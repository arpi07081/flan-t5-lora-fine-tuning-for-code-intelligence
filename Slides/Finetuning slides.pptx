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Inter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5689D-62F9-420C-852E-87DEA96B06FE}" v="93" dt="2026-05-15T10:12:01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96D51-8F48-45E9-B230-2174EEB08BB6}" type="datetimeFigureOut">
              <a:t>5/15/2026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74A6D-A781-4AB1-B1D2-EF88023741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46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272525"/>
                </a:solidFill>
              </a:rPr>
              <a:t>— freezing the base model and injecting trainable low-rank matrices into attention layers.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B10E-BEB4-96B3-24B1-5BD03D0A4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6EB7F-21E5-A3A0-2DDD-890280486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0D583-B910-D2EE-4E93-AD07D14E4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AF9B1-1C63-3037-5B1E-D82E8CCD10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3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412602"/>
            <a:ext cx="3351758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455093"/>
            <a:ext cx="31816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· SEMESTER 2 · EMLDS PROGRAMME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73570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Fine-Tuning Flan-T5 for Code Intelligence Using LoRA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27727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Parameter-Efficient Adaptation for Python Code Generation &amp; Text-to-SQL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3125"/>
            <a:ext cx="35450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&amp; Approach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99518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We fine-tuned 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google/flan-t5-base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(250M parameters) on two code tasks using </a:t>
            </a: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LoRA:</a:t>
            </a:r>
          </a:p>
          <a:p>
            <a:pPr marL="171450" indent="-171450">
              <a:lnSpc>
                <a:spcPts val="1750"/>
              </a:lnSpc>
              <a:buFont typeface="Arial"/>
              <a:buChar char="•"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</a:rPr>
              <a:t>Python Code Generation</a:t>
            </a:r>
            <a:endParaRPr lang="en-US" sz="1100" b="1" dirty="0">
              <a:solidFill>
                <a:srgbClr val="272525"/>
              </a:solidFill>
              <a:latin typeface="Inter"/>
              <a:ea typeface="Inter"/>
            </a:endParaRPr>
          </a:p>
          <a:p>
            <a:pPr marL="171450" indent="-171450">
              <a:lnSpc>
                <a:spcPts val="1750"/>
              </a:lnSpc>
              <a:buFont typeface="Arial"/>
              <a:buChar char="•"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</a:rPr>
              <a:t>SQL Query Generation from NL</a:t>
            </a:r>
            <a:endParaRPr lang="en-US" sz="1100" b="1" dirty="0">
              <a:solidFill>
                <a:srgbClr val="272525"/>
              </a:solidFill>
              <a:latin typeface="Inter"/>
              <a:ea typeface="Inter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67933" y="3378680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454" y="3525201"/>
            <a:ext cx="18039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Parameter Efficiency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14454" y="3831713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1.4% of parameters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trainable — ~3.5M of 250M. Feasible on a single T4 GPU.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00156" y="3378680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46677" y="35252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LoRA Configuration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46677" y="3831713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Rank=16, alpha=32, targeting query &amp; value matrices. LR=3e-4, 5 epochs, batch=32, fp32.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8614" y="2068268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135" y="22147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Multi-Task Training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25135" y="252130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generation (MBPP) and Text-to-SQL (SPIDER) trained jointly on a combined, shuffled dataset.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1501155"/>
            <a:ext cx="190648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MBPP — Python Generation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714503" y="1767632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464 train / 500 test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examples. Generate Python from natural language with test assertions.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14503" y="2173337"/>
            <a:ext cx="37596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 "Generate Python: {description} + Test cases: {assertions}"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714503" y="2465115"/>
            <a:ext cx="3759622" cy="8409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4714503" y="2602929"/>
            <a:ext cx="156053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SPIDER — Text-to-SQL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714503" y="2869406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7,000 train / 1,659 test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examples. Translate questions to SQL given a schema.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14503" y="3275112"/>
            <a:ext cx="37596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 "Translate to SQL: {question} + Schema: {tables/columns}"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14503" y="3538686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C7C9E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463" y="3700016"/>
            <a:ext cx="141163" cy="1129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81587" y="3656856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datasets preprocessed into unified JSONL, combined, and shuffled. SPIDER:MBPP ratio ≈ </a:t>
            </a: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15:1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993" y="208972"/>
            <a:ext cx="58684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Progress — ~1,000 Steps</a:t>
            </a:r>
            <a:endParaRPr lang="en-US" sz="2750" dirty="0"/>
          </a:p>
        </p:txBody>
      </p:sp>
      <p:sp>
        <p:nvSpPr>
          <p:cNvPr id="10" name="Text 5"/>
          <p:cNvSpPr/>
          <p:nvPr/>
        </p:nvSpPr>
        <p:spPr>
          <a:xfrm>
            <a:off x="4953624" y="12849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Loss Trajectory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53624" y="164811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loss fell from ~11.0 to ~2.0. Validation loss decreased steadily from 0.49 to 0.37 —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overfitting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observed across ~1,000 steps.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53624" y="24703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Overlap Metrics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53624" y="2833535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ROUGE-1: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0.605 → 0.710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(+17.4%)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ROUGE-L: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0.575 → 0.690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(+20.0%)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953624" y="346426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metrics improved consistently, confirming effective learning from LoRA adaptation.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E5A250-B993-8187-EEFB-0B9E8E03D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96" y="1033421"/>
            <a:ext cx="3753809" cy="1933660"/>
          </a:xfrm>
          <a:prstGeom prst="rect">
            <a:avLst/>
          </a:prstGeom>
        </p:spPr>
      </p:pic>
      <p:pic>
        <p:nvPicPr>
          <p:cNvPr id="16" name="Picture 1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1AAA4B1A-1875-0690-E8C3-372CCF193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65" y="3093287"/>
            <a:ext cx="3622241" cy="187198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D78431-7F8E-212E-2670-17096680EECE}"/>
              </a:ext>
            </a:extLst>
          </p:cNvPr>
          <p:cNvCxnSpPr/>
          <p:nvPr/>
        </p:nvCxnSpPr>
        <p:spPr>
          <a:xfrm flipV="1">
            <a:off x="416442" y="3009369"/>
            <a:ext cx="4093534" cy="156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220" y="275094"/>
            <a:ext cx="66797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Evaluation: Base vs Fine-Tuned (LoRA)</a:t>
            </a:r>
            <a:endParaRPr lang="en-US" sz="2750" dirty="0"/>
          </a:p>
        </p:txBody>
      </p:sp>
      <p:sp>
        <p:nvSpPr>
          <p:cNvPr id="10" name="Text 5"/>
          <p:cNvSpPr/>
          <p:nvPr/>
        </p:nvSpPr>
        <p:spPr>
          <a:xfrm>
            <a:off x="5033395" y="1458922"/>
            <a:ext cx="23918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MBPP — Python Generation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033395" y="182213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ROUGE-L improved 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3.2×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; BLEU-2 improved 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3.3×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. 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1750"/>
              </a:lnSpc>
            </a:pP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The model learned code-like patterns but failed to produce syntactically valid Python(Pass@1: 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0%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 for both models).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033395" y="2697470"/>
            <a:ext cx="390294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5033395" y="2902927"/>
            <a:ext cx="19579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SPIDER — Text-to-SQL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033395" y="3266142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ROUGE-L improved 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4.7×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; BLEU-2 improved 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15.4×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. </a:t>
            </a:r>
            <a:endParaRPr lang="en-US" sz="1100" dirty="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SQL's constrained grammar was far more learnable than free-form Python(Exact Match: 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0% → 1.93%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 strict / 2.53% </a:t>
            </a: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relaxed).</a:t>
            </a:r>
            <a:endParaRPr lang="en-US" sz="1100">
              <a:latin typeface="Inter"/>
              <a:ea typeface="Inter"/>
            </a:endParaRPr>
          </a:p>
        </p:txBody>
      </p:sp>
      <p:pic>
        <p:nvPicPr>
          <p:cNvPr id="15" name="Picture 1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6631D89-D935-94F1-187A-37BBE3A10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6" y="1457330"/>
            <a:ext cx="4777577" cy="25700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24362" y="399901"/>
            <a:ext cx="415624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 &amp; Future Work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824362" y="887834"/>
            <a:ext cx="4924276" cy="647328"/>
          </a:xfrm>
          <a:prstGeom prst="roundRect">
            <a:avLst>
              <a:gd name="adj" fmla="val 1059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10074" y="887834"/>
            <a:ext cx="57150" cy="647328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3994472" y="1015082"/>
            <a:ext cx="164008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LoRA is Highly Effective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94472" y="1245543"/>
            <a:ext cx="46269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1.4% trainable params yielded large gains in overlap metrics.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824362" y="1625129"/>
            <a:ext cx="4924276" cy="647328"/>
          </a:xfrm>
          <a:prstGeom prst="roundRect">
            <a:avLst>
              <a:gd name="adj" fmla="val 1059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10074" y="1625129"/>
            <a:ext cx="57150" cy="647328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3994472" y="1752377"/>
            <a:ext cx="157854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Task Structure Matters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94472" y="1982837"/>
            <a:ext cx="46269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Constrained SQL was far more learnable than open-ended Python for a 250M model.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824362" y="2362423"/>
            <a:ext cx="4924276" cy="647328"/>
          </a:xfrm>
          <a:prstGeom prst="roundRect">
            <a:avLst>
              <a:gd name="adj" fmla="val 1059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10074" y="2362423"/>
            <a:ext cx="57150" cy="647328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3994472" y="2489671"/>
            <a:ext cx="18557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 Metrics ≠ Correctness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94472" y="2720132"/>
            <a:ext cx="46269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ROUGE-L with 0% Pass@1 shows lexical similarity ≠ executable code.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24362" y="3099718"/>
            <a:ext cx="4924276" cy="647328"/>
          </a:xfrm>
          <a:prstGeom prst="roundRect">
            <a:avLst>
              <a:gd name="adj" fmla="val 1059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10074" y="3099718"/>
            <a:ext cx="57150" cy="647328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3994472" y="3226966"/>
            <a:ext cx="157668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Imbalance Impact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94472" y="3457426"/>
            <a:ext cx="46269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15:1 SPIDER:MBPP ratio likely amplified SQL performance.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24362" y="388203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Directions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24362" y="4193530"/>
            <a:ext cx="4924276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Code-specialized bases: CodeT5+, StarCoder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LoRA rank, augmented MBPP data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Syntax-constrained decoding for valid output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FE85-DC12-9BD4-E10E-A4215BA8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2FD813-438B-36F4-340F-E112D527307A}"/>
              </a:ext>
            </a:extLst>
          </p:cNvPr>
          <p:cNvSpPr/>
          <p:nvPr/>
        </p:nvSpPr>
        <p:spPr>
          <a:xfrm>
            <a:off x="220871" y="235222"/>
            <a:ext cx="5598802" cy="354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0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</a:rPr>
              <a:t>Datasets uploaded to HF</a:t>
            </a: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C1020B-34B3-ABBC-75DC-CDD63C127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6179"/>
            <a:ext cx="4868825" cy="2691676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22BC56-E936-2753-E530-853802F22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827" y="2335338"/>
            <a:ext cx="5037175" cy="280755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CA92218-8F59-AE26-8C70-821C3866B928}"/>
              </a:ext>
            </a:extLst>
          </p:cNvPr>
          <p:cNvSpPr/>
          <p:nvPr/>
        </p:nvSpPr>
        <p:spPr>
          <a:xfrm>
            <a:off x="219504" y="3923903"/>
            <a:ext cx="3818426" cy="85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b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MBPP — Python Generation:</a:t>
            </a:r>
            <a:endParaRPr lang="en-US" sz="1000">
              <a:solidFill>
                <a:srgbClr val="000000"/>
              </a:solidFill>
              <a:latin typeface="Inter Bold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1700"/>
              </a:lnSpc>
            </a:pPr>
            <a:r>
              <a:rPr lang="en-US" sz="1000" dirty="0">
                <a:ea typeface="+mn-lt"/>
                <a:cs typeface="+mn-lt"/>
              </a:rPr>
              <a:t>https://huggingface.co/datasets/SuperMax991/mbpp-python-generation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229EBED-59DA-AEC5-FC44-626A18ED190F}"/>
              </a:ext>
            </a:extLst>
          </p:cNvPr>
          <p:cNvSpPr/>
          <p:nvPr/>
        </p:nvSpPr>
        <p:spPr>
          <a:xfrm>
            <a:off x="5021876" y="1132856"/>
            <a:ext cx="3818426" cy="85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b="1">
                <a:solidFill>
                  <a:srgbClr val="000000"/>
                </a:solidFill>
                <a:ea typeface="+mn-lt"/>
                <a:cs typeface="+mn-lt"/>
              </a:rPr>
              <a:t>Spider-text2sql</a:t>
            </a:r>
            <a:r>
              <a:rPr lang="en-US" sz="1000" b="1" dirty="0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:</a:t>
            </a:r>
            <a:endParaRPr lang="en-US" sz="1000" dirty="0">
              <a:solidFill>
                <a:srgbClr val="000000"/>
              </a:solidFill>
              <a:latin typeface="Inter Bold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1700"/>
              </a:lnSpc>
            </a:pPr>
            <a:r>
              <a:rPr lang="en-US" sz="1000" dirty="0">
                <a:ea typeface="+mn-lt"/>
                <a:cs typeface="+mn-lt"/>
              </a:rPr>
              <a:t>https://huggingface.co/datasets/SuperMax991/spider-text2sql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81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88</cp:revision>
  <dcterms:created xsi:type="dcterms:W3CDTF">2026-05-08T20:24:29Z</dcterms:created>
  <dcterms:modified xsi:type="dcterms:W3CDTF">2026-05-15T10:12:54Z</dcterms:modified>
</cp:coreProperties>
</file>